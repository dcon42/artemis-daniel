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entry is an honest null result. We found a funding-rate mean-reversion strategy with a Sharpe of 1.9 in backtest, then ran a battery of honesty tests designed to detect luck. It failed two of four gates. We are presenting the diagnosis, not a trade. The competition rewards the best thinking, not the best P&amp;L — that is exactly the spirit of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plain. A perpetual future has no expiry, so an exchange uses the funding rate — a real fee one side pays the other — to keep it pinned to spot. Extreme funding means a crowded, over-leveraged trade. Our hypothesis is mean reversion: the crowded side snaps back. It's the same instinct as betting against the most-hyped stock.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Mechanically simple. Each day we rank the top-35 coins by a funding z-score, buy the lowest-funding names, short the highest, equal-weight, dollar-neutral, rebalanced daily with roughly a two-week holding horizon. Market-neutral means we are betting on the spread, not on whether crypto goes up or down. Note for later: the parameters were chosen by a sweep — we mined them, which is the seed of the whole honesty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seductive part. Plus 63.6% over about a year, Sharpe 1.91, worst drawdown only minus 19 percent. The shaded region is out-of-sample and the dip is the January 2026 BTC rally — hold that thought. A naive team ships this. We didn't, because the parameters were mined and one year of crypto is thin, regime-driven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reasons for suspicion. One, we mined the parameters over 56 combinations — searching hard guarantees something looks good by chance. Two, only about a year of data. Three, crypto is regime-driven. The right scientific move is to invert the goal: instead of confirming the strategy, actively try to falsify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scorecard is the heart of the entry. Four gates. Gate 1, significance after multiple-testing correction: zero of 56 combos survive, the traded spread is p = 0.057 — FAIL. Gate 2, sign stability out-of-sample: +12.7%, about 76 percent of in-sample Sharpe — PASS. Gate 3, the Deflated Sharpe penalizes for search effort: 47 percent, a coin flip versus a 95 percent bar — FAIL. Gate 4, costs: 107.8% gross to 94.8% net, +82.7% even at double fees — PASS. Two of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of four. The verdict is NOT DEPLOYABLE. We want to be very clear: this is not us hiding a loser. It is us refusing to ship a winner we cannot statistically defend. The discipline to say no here is the point of the whole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insight the judges should remember. This strategy fails in the most instructive way possible. It is not a money-loser; it makes a lot, beats costs, and even carries into out-of-sample. It dies specifically on the two tests for luck. That precise signature — large, robust, OOS-positive, but significance-failing — is the textbook fingerprint of data-mining. Diagnosing that is our actual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lessons. One, regime is everything — the factor works range-bound and bled during the Jan-2026 BTC rally, because when crowded longs keep being right, betting on reversion loses. Two, the signal is a non-monotone tail effect, not a clean linear factor — Q2 is anomalously weak (nearly as low as Q5), so the edge lives only in the extreme tails. Three, and most important, the rigor changed the conclusion: a naive process would have shipped a Sharpe-1.9 winner.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it back to the brief: best thinking over best backtest. We delivered a clear hypothesis, a pre-committed pass/fail framework, the correct diagnosis of data-mining, and named limitations with a path forward. To make it real we would add a regime filter, get longer survivorship-corrected data, pair it with a trend factor, and trade only the 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slide for Q&amp;A. Methodology recap on the left, the headline numbers in the table, and the cost / reproducibility note at the bottom. Everything here is reproducible from the GitHub repo and notebooks. Be ready to talk through the named limitations: survivorship bias, point-in-time universe bias, short history, and a partially-burned out-of-sample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ARTEMIS ANALYTICS QUANT RESEARCH COMPETITION  —  TRACK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78992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1E1B2E"/>
                </a:solidFill>
                <a:latin typeface="Calibri"/>
              </a:rPr>
              <a:t>Funding-Rate Mean Reversion:</a:t>
            </a:r>
          </a:p>
          <a:p>
            <a:pPr algn="l"/>
            <a:r>
              <a:rPr sz="4600" b="1" i="0">
                <a:solidFill>
                  <a:srgbClr val="5B21B6"/>
                </a:solidFill>
                <a:latin typeface="Calibri"/>
              </a:rPr>
              <a:t>An Honest Null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8620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041648"/>
            <a:ext cx="996696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1">
                <a:solidFill>
                  <a:srgbClr val="1E1B2E"/>
                </a:solidFill>
                <a:latin typeface="Calibri"/>
              </a:rPr>
              <a:t>A Sharpe-1.9 backtest that we deliberately tried to break — and the honest reasons we would not trade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555566"/>
                </a:solidFill>
                <a:latin typeface="Calibri"/>
              </a:rPr>
              <a:t>Crypto Factor Rebalancing  ·  Hyperliquid Perpetual Futures</a:t>
            </a:r>
          </a:p>
          <a:p>
            <a:pPr algn="l"/>
            <a:r>
              <a:rPr sz="1400" b="0" i="0">
                <a:solidFill>
                  <a:srgbClr val="555566"/>
                </a:solidFill>
                <a:latin typeface="Calibri"/>
              </a:rPr>
              <a:t>Presented by Daniel Connelly &amp; Jack Brogan      ·      June 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THE 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300" b="1" i="0">
                <a:solidFill>
                  <a:srgbClr val="1E1B2E"/>
                </a:solidFill>
                <a:latin typeface="Calibri"/>
              </a:rPr>
              <a:t>The Idea, in Plain English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89888"/>
            <a:ext cx="192024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6400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 i="0">
                <a:solidFill>
                  <a:srgbClr val="5B21B6"/>
                </a:solidFill>
                <a:latin typeface="Calibri"/>
              </a:rPr>
              <a:t>Funding rate = a crowding thermometer.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640080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900" b="0" i="0">
                <a:solidFill>
                  <a:srgbClr val="1E1B2E"/>
                </a:solidFill>
                <a:latin typeface="Calibri"/>
              </a:rPr>
              <a:t>A perpetual future is a crypto bet with no expiry date. To keep its price glued to the real (spot) price, traders pay each other a small recurring fee called the funding rate.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E1B2E"/>
                </a:solidFill>
                <a:latin typeface="Calibri"/>
              </a:rPr>
              <a:t>When a trade gets crowded, that fee spikes: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1E1B2E"/>
                </a:solidFill>
                <a:latin typeface="Calibri"/>
              </a:rPr>
              <a:t>•   Everyone piling in LONG  -&gt;  very high funding (longs pay).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 i="0">
                <a:solidFill>
                  <a:srgbClr val="1E1B2E"/>
                </a:solidFill>
                <a:latin typeface="Calibri"/>
              </a:rPr>
              <a:t>•   Everyone piling in SHORT  -&gt;  very negative funding (shorts pay).</a:t>
            </a:r>
          </a:p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5B21B6"/>
                </a:solidFill>
                <a:latin typeface="Calibri"/>
              </a:rPr>
              <a:t>Our bet: the over-loved, over-leveraged side tends to snap back. Crowded longs underperform; crowded shorts outperform.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783080"/>
            <a:ext cx="4297680" cy="420624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057400"/>
            <a:ext cx="37033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Calibri"/>
              </a:rPr>
              <a:t>The everyday analogy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697480"/>
            <a:ext cx="3703320" cy="3108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1" i="1">
                <a:solidFill>
                  <a:srgbClr val="1E1B2E"/>
                </a:solidFill>
                <a:latin typeface="Calibri"/>
              </a:rPr>
              <a:t>“Betting Against the Crowd.”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0" i="0">
                <a:solidFill>
                  <a:srgbClr val="1E1B2E"/>
                </a:solidFill>
                <a:latin typeface="Calibri"/>
              </a:rPr>
              <a:t>When a stock — or a coin — becomes everyone's favorite, it has often already had its run. The most loved end of the market tends to earn less than its risk would suggest.</a:t>
            </a:r>
          </a:p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1E1B2E"/>
                </a:solidFill>
                <a:latin typeface="Calibri"/>
              </a:rPr>
              <a:t>Funding rate just gives us a clean, real-money gauge of exactly how crowded each coin is, every single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300" b="1" i="0">
                <a:solidFill>
                  <a:srgbClr val="1E1B2E"/>
                </a:solidFill>
                <a:latin typeface="Calibri"/>
              </a:rPr>
              <a:t>The Trade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89888"/>
            <a:ext cx="192024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2402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1" i="0">
                <a:solidFill>
                  <a:srgbClr val="5B21B6"/>
                </a:solidFill>
                <a:latin typeface="Calibri"/>
              </a:rPr>
              <a:t>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22402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E1B2E"/>
                </a:solidFill>
                <a:latin typeface="Calibri"/>
              </a:rPr>
              <a:t>Every day, score the top-35 coins by how extreme their funding 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2424" y="182880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1024" y="205740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697480"/>
            <a:ext cx="22402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1" i="0">
                <a:solidFill>
                  <a:srgbClr val="5B21B6"/>
                </a:solidFill>
                <a:latin typeface="Calibri"/>
              </a:rPr>
              <a:t>Buy the cheap 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3154680"/>
            <a:ext cx="22402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E1B2E"/>
                </a:solidFill>
                <a:latin typeface="Calibri"/>
              </a:rPr>
              <a:t>Go LONG the coins with the lowest (most negative) funding — the crowded shorts.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82880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64808" y="205740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697480"/>
            <a:ext cx="22402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1" i="0">
                <a:solidFill>
                  <a:srgbClr val="5B21B6"/>
                </a:solidFill>
                <a:latin typeface="Calibri"/>
              </a:rPr>
              <a:t>Sell the hot 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154680"/>
            <a:ext cx="22402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E1B2E"/>
                </a:solidFill>
                <a:latin typeface="Calibri"/>
              </a:rPr>
              <a:t>Go SHORT the coins with the highest funding — the crowded longs.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9992" y="182880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08592" y="205740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2697480"/>
            <a:ext cx="22402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1" i="0">
                <a:solidFill>
                  <a:srgbClr val="5B21B6"/>
                </a:solidFill>
                <a:latin typeface="Calibri"/>
              </a:rPr>
              <a:t>Stay neutral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3154680"/>
            <a:ext cx="22402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E1B2E"/>
                </a:solidFill>
                <a:latin typeface="Calibri"/>
              </a:rPr>
              <a:t>Equal dollars long and short, so we bet on the gap, not on the market direction.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1109960" cy="1691640"/>
          </a:xfrm>
          <a:prstGeom prst="roundRect">
            <a:avLst>
              <a:gd name="adj" fmla="val 6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6177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Two terms, defined once: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029200"/>
            <a:ext cx="1051560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50" b="0" i="0">
                <a:solidFill>
                  <a:srgbClr val="1E1B2E"/>
                </a:solidFill>
                <a:latin typeface="Calibri"/>
              </a:rPr>
              <a:t>•   Market-neutral  —  equal money on both sides, so a broad crypto crash or rally roughly cancels out. We only profit from the spread between the two baskets.</a:t>
            </a:r>
          </a:p>
          <a:p>
            <a:pPr algn="l">
              <a:lnSpc>
                <a:spcPct val="106000"/>
              </a:lnSpc>
            </a:pPr>
            <a:r>
              <a:rPr sz="1650" b="0" i="0">
                <a:solidFill>
                  <a:srgbClr val="1E1B2E"/>
                </a:solidFill>
                <a:latin typeface="Calibri"/>
              </a:rPr>
              <a:t>•   Rebalanced daily  —  we refresh the baskets each day, holding each position about two weeks (a 14-day horizon).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THE BACKTEST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300" b="1" i="0">
                <a:solidFill>
                  <a:srgbClr val="1E1B2E"/>
                </a:solidFill>
                <a:latin typeface="Calibri"/>
              </a:rPr>
              <a:t>Act 1: It Looked Like a Winner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89888"/>
            <a:ext cx="192024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1_equ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82289"/>
            <a:ext cx="5669280" cy="4099262"/>
          </a:xfrm>
          <a:prstGeom prst="rect">
            <a:avLst/>
          </a:prstGeom>
          <a:ln w="9525">
            <a:solidFill>
              <a:srgbClr val="DDD8EC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48640" y="1828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2606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000" b="1" i="0">
                <a:solidFill>
                  <a:srgbClr val="5B21B6"/>
                </a:solidFill>
                <a:latin typeface="Calibri"/>
              </a:rPr>
              <a:t>+63.6%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6060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555566"/>
                </a:solidFill>
                <a:latin typeface="Calibri"/>
              </a:rPr>
              <a:t>Total return (~1 yr)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828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993392"/>
            <a:ext cx="2606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000" b="1" i="0">
                <a:solidFill>
                  <a:srgbClr val="5B21B6"/>
                </a:solidFill>
                <a:latin typeface="Calibri"/>
              </a:rPr>
              <a:t>1.91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97480"/>
            <a:ext cx="26060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555566"/>
                </a:solidFill>
                <a:latin typeface="Calibri"/>
              </a:rPr>
              <a:t>Sharpe ratio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02152"/>
            <a:ext cx="2606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000" b="1" i="0">
                <a:solidFill>
                  <a:srgbClr val="9B1C1C"/>
                </a:solidFill>
                <a:latin typeface="Calibri"/>
              </a:rPr>
              <a:t>-19%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26060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555566"/>
                </a:solidFill>
                <a:latin typeface="Calibri"/>
              </a:rPr>
              <a:t>Max drawdown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3375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3502152"/>
            <a:ext cx="2606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000" b="1" i="0">
                <a:solidFill>
                  <a:srgbClr val="5B21B6"/>
                </a:solidFill>
                <a:latin typeface="Calibri"/>
              </a:rPr>
              <a:t>May '25–'26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206240"/>
            <a:ext cx="26060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555566"/>
                </a:solidFill>
                <a:latin typeface="Calibri"/>
              </a:rPr>
              <a:t>Backtest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534924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5B21B6"/>
                </a:solidFill>
                <a:latin typeface="Calibri"/>
              </a:rPr>
              <a:t>On paper, a strong result.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E1B2E"/>
                </a:solidFill>
                <a:latin typeface="Calibri"/>
              </a:rPr>
              <a:t>A Sharpe near 2 with a manageable drawdown is the kind of curve that gets a strategy funded. The honest question is: is it real, or did we get lucky?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ACT 2 BEGINS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300" b="1" i="0">
                <a:solidFill>
                  <a:srgbClr val="1E1B2E"/>
                </a:solidFill>
                <a:latin typeface="Calibri"/>
              </a:rPr>
              <a:t>Why We Didn't Trust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89888"/>
            <a:ext cx="192024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200" b="1" i="0">
                <a:solidFill>
                  <a:srgbClr val="1E1B2E"/>
                </a:solidFill>
                <a:latin typeface="Calibri"/>
              </a:rPr>
              <a:t>A great-looking number is the beginning of the work, not the 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3593592" cy="278892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359359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3044952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5B21B6"/>
                </a:solidFill>
                <a:latin typeface="Calibri"/>
              </a:rPr>
              <a:t>We mined the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3044952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1E1B2E"/>
                </a:solidFill>
                <a:latin typeface="Calibri"/>
              </a:rPr>
              <a:t>The look-back windows and holding period were picked by searching over dozens of combinations. Search hard enough and something always looks great by chance.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2697480"/>
            <a:ext cx="3593592" cy="278892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2697480"/>
            <a:ext cx="359359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3108960"/>
            <a:ext cx="3044952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5B21B6"/>
                </a:solidFill>
                <a:latin typeface="Calibri"/>
              </a:rPr>
              <a:t>Crypto history is short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023360"/>
            <a:ext cx="3044952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1E1B2E"/>
                </a:solidFill>
                <a:latin typeface="Calibri"/>
              </a:rPr>
              <a:t>About one year of data. That isn't enough to tell skill from luck, especially for a daily-rebalanced strategy.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697480"/>
            <a:ext cx="3593592" cy="278892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2697480"/>
            <a:ext cx="359359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3108960"/>
            <a:ext cx="3044952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5B21B6"/>
                </a:solidFill>
                <a:latin typeface="Calibri"/>
              </a:rPr>
              <a:t>The market changes regime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4023360"/>
            <a:ext cx="3044952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1E1B2E"/>
                </a:solidFill>
                <a:latin typeface="Calibri"/>
              </a:rPr>
              <a:t>Crypto swings between calm, range-bound stretches and violent trends. A strategy can look brilliant in one regime and bleed in the next.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150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 i="1">
                <a:solidFill>
                  <a:srgbClr val="5B21B6"/>
                </a:solidFill>
                <a:latin typeface="Calibri"/>
              </a:rPr>
              <a:t>So we stopped trying to confirm the strategy and started trying to kill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OUR HONESTY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300" b="1" i="0">
                <a:solidFill>
                  <a:srgbClr val="1E1B2E"/>
                </a:solidFill>
                <a:latin typeface="Calibri"/>
              </a:rPr>
              <a:t>The Four-Gate Stress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89888"/>
            <a:ext cx="192024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0" i="0">
                <a:solidFill>
                  <a:srgbClr val="555566"/>
                </a:solidFill>
                <a:latin typeface="Calibri"/>
              </a:rPr>
              <a:t>Four pass/fail gates a strategy must clear before we would ever deploy it.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1091672" cy="38770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17520"/>
                <a:gridCol w="5879592"/>
                <a:gridCol w="219456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anchor="ctr" marL="137160" marR="109728" marT="54864" marB="54864">
                    <a:solidFill>
                      <a:srgbClr val="7C3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The question it asks</a:t>
                      </a:r>
                    </a:p>
                  </a:txBody>
                  <a:tcPr anchor="ctr" marL="137160" marR="109728" marT="54864" marB="54864">
                    <a:solidFill>
                      <a:srgbClr val="7C3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 marL="137160" marR="109728" marT="54864" marB="54864">
                    <a:solidFill>
                      <a:srgbClr val="7C3AED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550" b="1" i="0">
                          <a:solidFill>
                            <a:srgbClr val="1E1B2E"/>
                          </a:solidFill>
                          <a:latin typeface="Calibri"/>
                        </a:rPr>
                        <a:t>1. Statistical significance</a:t>
                      </a:r>
                    </a:p>
                  </a:txBody>
                  <a:tcPr anchor="ctr" marL="137160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E1B2E"/>
                          </a:solidFill>
                          <a:latin typeface="Calibri"/>
                        </a:rPr>
                        <a:t>After correcting for how many combos we tried, is the edge still real? (0 of 56 survive; traded-spread p = 0.057)</a:t>
                      </a:r>
                    </a:p>
                  </a:txBody>
                  <a:tcPr anchor="ctr" marL="137160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i="0">
                          <a:solidFill>
                            <a:srgbClr val="9B1C1C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 anchor="ctr" marL="137160" marR="109728" marT="54864" marB="54864">
                    <a:solidFill>
                      <a:srgbClr val="FBE0E0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550" b="1" i="0">
                          <a:solidFill>
                            <a:srgbClr val="1E1B2E"/>
                          </a:solidFill>
                          <a:latin typeface="Calibri"/>
                        </a:rPr>
                        <a:t>2. Sign stability</a:t>
                      </a:r>
                    </a:p>
                  </a:txBody>
                  <a:tcPr anchor="ctr" marL="137160" marR="109728" marT="54864" marB="54864">
                    <a:solidFill>
                      <a:srgbClr val="F6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E1B2E"/>
                          </a:solidFill>
                          <a:latin typeface="Calibri"/>
                        </a:rPr>
                        <a:t>Does the edge point the same way on a sealed out-of-sample window? (+12.7% out-of-sample, ~76% of in-sample Sharpe)</a:t>
                      </a:r>
                    </a:p>
                  </a:txBody>
                  <a:tcPr anchor="ctr" marL="137160" marR="109728" marT="54864" marB="54864">
                    <a:solidFill>
                      <a:srgbClr val="F6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i="0">
                          <a:solidFill>
                            <a:srgbClr val="146B3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137160" marR="109728" marT="54864" marB="54864">
                    <a:solidFill>
                      <a:srgbClr val="DDF2E3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550" b="1" i="0">
                          <a:solidFill>
                            <a:srgbClr val="1E1B2E"/>
                          </a:solidFill>
                          <a:latin typeface="Calibri"/>
                        </a:rPr>
                        <a:t>3. Overfitting penalty</a:t>
                      </a:r>
                    </a:p>
                  </a:txBody>
                  <a:tcPr anchor="ctr" marL="137160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E1B2E"/>
                          </a:solidFill>
                          <a:latin typeface="Calibri"/>
                        </a:rPr>
                        <a:t>Discounting for how hard we searched, is it better than a coin flip? (Deflated Sharpe = 47%, bar is 95%)</a:t>
                      </a:r>
                    </a:p>
                  </a:txBody>
                  <a:tcPr anchor="ctr" marL="137160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i="0">
                          <a:solidFill>
                            <a:srgbClr val="9B1C1C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 anchor="ctr" marL="137160" marR="109728" marT="54864" marB="54864">
                    <a:solidFill>
                      <a:srgbClr val="FBE0E0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550" b="1" i="0">
                          <a:solidFill>
                            <a:srgbClr val="1E1B2E"/>
                          </a:solidFill>
                          <a:latin typeface="Calibri"/>
                        </a:rPr>
                        <a:t>4. Survives real costs</a:t>
                      </a:r>
                    </a:p>
                  </a:txBody>
                  <a:tcPr anchor="ctr" marL="137160" marR="109728" marT="54864" marB="54864">
                    <a:solidFill>
                      <a:srgbClr val="F6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E1B2E"/>
                          </a:solidFill>
                          <a:latin typeface="Calibri"/>
                        </a:rPr>
                        <a:t>Does it still work after realistic trading fees, even doubled? (gross 107.8% -&gt; net 94.8% ann.; 82.7% at 2x)</a:t>
                      </a:r>
                    </a:p>
                  </a:txBody>
                  <a:tcPr anchor="ctr" marL="137160" marR="109728" marT="54864" marB="54864">
                    <a:solidFill>
                      <a:srgbClr val="F6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i="0">
                          <a:solidFill>
                            <a:srgbClr val="146B3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137160" marR="109728" marT="54864" marB="54864">
                    <a:solidFill>
                      <a:srgbClr val="DDF2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800" b="1" i="0">
                <a:solidFill>
                  <a:srgbClr val="D6C6F7"/>
                </a:solidFill>
                <a:latin typeface="Calibri"/>
              </a:rPr>
              <a:t>THE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69848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2 of 4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30168" y="3703320"/>
            <a:ext cx="4937760" cy="96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 i="0">
                <a:solidFill>
                  <a:srgbClr val="9B1C1C"/>
                </a:solidFill>
                <a:latin typeface="Calibri"/>
              </a:rPr>
              <a:t>NOT DEPLOYABLE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120640"/>
            <a:ext cx="88696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 i="1">
                <a:solidFill>
                  <a:srgbClr val="EAE2FB"/>
                </a:solidFill>
                <a:latin typeface="Calibri"/>
              </a:rPr>
              <a:t>It makes money and survives costs — but it cannot clear an honest significance bar. That conclusion is the deliverable.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THE KEY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300" b="1" i="0">
                <a:solidFill>
                  <a:srgbClr val="1E1B2E"/>
                </a:solidFill>
                <a:latin typeface="Calibri"/>
              </a:rPr>
              <a:t>The Twist: How It Failed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89888"/>
            <a:ext cx="192024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200" b="1" i="0">
                <a:solidFill>
                  <a:srgbClr val="5B21B6"/>
                </a:solidFill>
                <a:latin typeface="Calibri"/>
              </a:rPr>
              <a:t>It didn't fail by losing money.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48640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700" b="0" i="0">
                <a:solidFill>
                  <a:srgbClr val="1E1B2E"/>
                </a:solidFill>
                <a:latin typeface="Calibri"/>
              </a:rPr>
              <a:t>The strategy is big, survives realistic costs, and even stayed positive on data it had never seen (+12.7% out-of-sample).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1E1B2E"/>
                </a:solidFill>
                <a:latin typeface="Calibri"/>
              </a:rPr>
              <a:t>It died on exactly — and only — the two tests built to detect luck:</a:t>
            </a:r>
          </a:p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E1B2E"/>
                </a:solidFill>
                <a:latin typeface="Calibri"/>
              </a:rPr>
              <a:t>•   significance after a hard search, and the search-penalized Deflated Sharpe.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17720"/>
            <a:ext cx="5440680" cy="1600200"/>
          </a:xfrm>
          <a:prstGeom prst="roundRect">
            <a:avLst>
              <a:gd name="adj" fmla="val 6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493776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1">
                <a:solidFill>
                  <a:srgbClr val="5B21B6"/>
                </a:solidFill>
                <a:latin typeface="Calibri"/>
              </a:rPr>
              <a:t>A big, cost-robust, out-of-sample-positive number that still can't clear an honest significance bar is the textbook fingerprint of data-mining.</a:t>
            </a:r>
          </a:p>
        </p:txBody>
      </p:sp>
      <p:pic>
        <p:nvPicPr>
          <p:cNvPr id="11" name="Picture 10" descr="fig4_o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490480"/>
            <a:ext cx="5486400" cy="2700000"/>
          </a:xfrm>
          <a:prstGeom prst="rect">
            <a:avLst/>
          </a:prstGeom>
          <a:ln w="9525">
            <a:solidFill>
              <a:srgbClr val="DDD8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63640" y="5623560"/>
            <a:ext cx="5486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0" i="1">
                <a:solidFill>
                  <a:srgbClr val="555566"/>
                </a:solidFill>
                <a:latin typeface="Calibri"/>
              </a:rPr>
              <a:t>In-sample vs. out-of-sample: the edge carried forward (+12.7%) — yet still fails the luck tests.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THE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300" b="1" i="0">
                <a:solidFill>
                  <a:srgbClr val="1E1B2E"/>
                </a:solidFill>
                <a:latin typeface="Calibri"/>
              </a:rPr>
              <a:t>What We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89888"/>
            <a:ext cx="192024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i="0">
                <a:solidFill>
                  <a:srgbClr val="5B21B6"/>
                </a:solidFill>
                <a:latin typeface="Calibri"/>
              </a:rPr>
              <a:t>1.  Regime is everything</a:t>
            </a:r>
          </a:p>
        </p:txBody>
      </p:sp>
      <p:pic>
        <p:nvPicPr>
          <p:cNvPr id="8" name="Picture 7" descr="fig5_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2148840"/>
            <a:ext cx="5330220" cy="2377440"/>
          </a:xfrm>
          <a:prstGeom prst="rect">
            <a:avLst/>
          </a:prstGeom>
          <a:ln w="9525">
            <a:solidFill>
              <a:srgbClr val="DDD8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4663440"/>
            <a:ext cx="553212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1E1B2E"/>
                </a:solidFill>
                <a:latin typeface="Calibri"/>
              </a:rPr>
              <a:t>The factor works when the market is range-bound and bled during the January-2026 BTC rally — when crowded longs kept being right, mean reversion is the wrong bet.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486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i="0">
                <a:solidFill>
                  <a:srgbClr val="5B21B6"/>
                </a:solidFill>
                <a:latin typeface="Calibri"/>
              </a:rPr>
              <a:t>2.  It's a tail effect, not a clean factor</a:t>
            </a:r>
          </a:p>
        </p:txBody>
      </p:sp>
      <p:pic>
        <p:nvPicPr>
          <p:cNvPr id="11" name="Picture 10" descr="fig2_quint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474" y="2148840"/>
            <a:ext cx="3944172" cy="2377440"/>
          </a:xfrm>
          <a:prstGeom prst="rect">
            <a:avLst/>
          </a:prstGeom>
          <a:ln w="9525">
            <a:solidFill>
              <a:srgbClr val="DDD8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355080" y="4663440"/>
            <a:ext cx="539496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1E1B2E"/>
                </a:solidFill>
                <a:latin typeface="Calibri"/>
              </a:rPr>
              <a:t>Returns aren't a clean line across funding levels — the relationship is non-monotone (the second-lowest-funding bucket is anomalously weak). The edge lives only in the extreme tails, fragile and easy to mis-trade.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FOR THIS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300" b="1" i="0">
                <a:solidFill>
                  <a:srgbClr val="1E1B2E"/>
                </a:solidFill>
                <a:latin typeface="Calibri"/>
              </a:rPr>
              <a:t>Why This Is the Right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89888"/>
            <a:ext cx="192024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109960" cy="146304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42416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1">
                <a:solidFill>
                  <a:srgbClr val="5B21B6"/>
                </a:solidFill>
                <a:latin typeface="Calibri"/>
              </a:rPr>
              <a:t>“We are not looking for the most profitable strategy — we are looking for the best thinking. A negative-Sharpe strategy that is correctly understood and honestly evaluated will score better than impressive returns with no critical analysis.”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424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555566"/>
                </a:solidFill>
                <a:latin typeface="Calibri"/>
              </a:rPr>
              <a:t>— Artemis competition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 i="0">
                <a:solidFill>
                  <a:srgbClr val="1E1B2E"/>
                </a:solidFill>
                <a:latin typeface="Calibri"/>
              </a:rPr>
              <a:t>We delivered the thinking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51960"/>
            <a:ext cx="548640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50" b="0" i="0">
                <a:solidFill>
                  <a:srgbClr val="1E1B2E"/>
                </a:solidFill>
                <a:latin typeface="Calibri"/>
              </a:rPr>
              <a:t>•   A clear, plain-English hypothesis with real economic logic.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50" b="0" i="0">
                <a:solidFill>
                  <a:srgbClr val="1E1B2E"/>
                </a:solidFill>
                <a:latin typeface="Calibri"/>
              </a:rPr>
              <a:t>•   A pre-committed pass/fail framework, not after-the-fact rationalizing.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50" b="0" i="0">
                <a:solidFill>
                  <a:srgbClr val="1E1B2E"/>
                </a:solidFill>
                <a:latin typeface="Calibri"/>
              </a:rPr>
              <a:t>•   A correct diagnosis: an attractive backtest that is most likely data-mining.</a:t>
            </a:r>
          </a:p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1E1B2E"/>
                </a:solidFill>
                <a:latin typeface="Calibri"/>
              </a:rPr>
              <a:t>•   Named limitations and a concrete path forward.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749039"/>
            <a:ext cx="5394960" cy="2697480"/>
          </a:xfrm>
          <a:prstGeom prst="roundRect">
            <a:avLst>
              <a:gd name="adj" fmla="val 6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93192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Calibri"/>
              </a:rPr>
              <a:t>What would make it deployable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434840"/>
            <a:ext cx="4846320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0" i="0">
                <a:solidFill>
                  <a:srgbClr val="1E1B2E"/>
                </a:solidFill>
                <a:latin typeface="Calibri"/>
              </a:rPr>
              <a:t>•   Add a regime filter — only trade when BTC is range-bound.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0" i="0">
                <a:solidFill>
                  <a:srgbClr val="1E1B2E"/>
                </a:solidFill>
                <a:latin typeface="Calibri"/>
              </a:rPr>
              <a:t>•   Get a longer, survivorship-corrected history.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0" i="0">
                <a:solidFill>
                  <a:srgbClr val="1E1B2E"/>
                </a:solidFill>
                <a:latin typeface="Calibri"/>
              </a:rPr>
              <a:t>•   Pair it with an offsetting trend / momentum factor.</a:t>
            </a:r>
          </a:p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E1B2E"/>
                </a:solidFill>
                <a:latin typeface="Calibri"/>
              </a:rPr>
              <a:t>•   Trade only the extreme tails, where the real edge lives.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300" b="1" i="0">
                <a:solidFill>
                  <a:srgbClr val="1E1B2E"/>
                </a:solidFill>
                <a:latin typeface="Calibri"/>
              </a:rPr>
              <a:t>Appendix: Methodology &amp;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89888"/>
            <a:ext cx="192024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 i="0">
                <a:solidFill>
                  <a:srgbClr val="5B21B6"/>
                </a:solidFill>
                <a:latin typeface="Calibri"/>
              </a:rPr>
              <a:t>Methodology, one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557784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 i="0">
                <a:solidFill>
                  <a:srgbClr val="1E1B2E"/>
                </a:solidFill>
                <a:latin typeface="Calibri"/>
              </a:rPr>
              <a:t>•   Universe: top-35 Hyperliquid perpetuals by volume.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 i="0">
                <a:solidFill>
                  <a:srgbClr val="1E1B2E"/>
                </a:solidFill>
                <a:latin typeface="Calibri"/>
              </a:rPr>
              <a:t>•   Signal: funding z = (21-day mean − 90-day mean) / 90-day std.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 i="0">
                <a:solidFill>
                  <a:srgbClr val="1E1B2E"/>
                </a:solidFill>
                <a:latin typeface="Calibri"/>
              </a:rPr>
              <a:t>•   Trade: long lowest-z, short highest-z; equal-weight, dollar-neutral.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 i="0">
                <a:solidFill>
                  <a:srgbClr val="1E1B2E"/>
                </a:solidFill>
                <a:latin typeface="Calibri"/>
              </a:rPr>
              <a:t>•   Horizon: 14-day holding; rebalanced daily.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0" i="0">
                <a:solidFill>
                  <a:srgbClr val="1E1B2E"/>
                </a:solidFill>
                <a:latin typeface="Calibri"/>
              </a:rPr>
              <a:t>•   Params chosen by a multi-parameter sweep (hence the overfitting tests).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E1B2E"/>
                </a:solidFill>
                <a:latin typeface="Calibri"/>
              </a:rPr>
              <a:t>Known limitations: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55566"/>
                </a:solidFill>
                <a:latin typeface="Calibri"/>
              </a:rPr>
              <a:t>survivorship bias (delisted coins silently dropped); point-in-time universe bias (7 coins listed mid-study); ~1-year history; partially-burned out-of-sample.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148840"/>
          <a:ext cx="525780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290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109728" marR="91440" marT="18288" marB="18288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109728" marR="91440" marT="18288" marB="18288">
                    <a:solidFill>
                      <a:srgbClr val="7C3AE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1E1B2E"/>
                          </a:solidFill>
                          <a:latin typeface="Calibri"/>
                        </a:rPr>
                        <a:t>Total return (backtest)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5B21B6"/>
                          </a:solidFill>
                          <a:latin typeface="Calibri"/>
                        </a:rPr>
                        <a:t>+63.6%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1E1B2E"/>
                          </a:solidFill>
                          <a:latin typeface="Calibri"/>
                        </a:rPr>
                        <a:t>Sharpe ratio</a:t>
                      </a:r>
                    </a:p>
                  </a:txBody>
                  <a:tcPr anchor="ctr" marL="109728" marR="91440" marT="18288" marB="18288"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5B21B6"/>
                          </a:solidFill>
                          <a:latin typeface="Calibri"/>
                        </a:rPr>
                        <a:t>1.91</a:t>
                      </a:r>
                    </a:p>
                  </a:txBody>
                  <a:tcPr anchor="ctr" marL="109728" marR="91440" marT="18288" marB="18288">
                    <a:solidFill>
                      <a:srgbClr val="F6F4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1E1B2E"/>
                          </a:solidFill>
                          <a:latin typeface="Calibri"/>
                        </a:rPr>
                        <a:t>Max drawdown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5B21B6"/>
                          </a:solidFill>
                          <a:latin typeface="Calibri"/>
                        </a:rPr>
                        <a:t>-19%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1E1B2E"/>
                          </a:solidFill>
                          <a:latin typeface="Calibri"/>
                        </a:rPr>
                        <a:t>Out-of-sample return</a:t>
                      </a:r>
                    </a:p>
                  </a:txBody>
                  <a:tcPr anchor="ctr" marL="109728" marR="91440" marT="18288" marB="18288"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5B21B6"/>
                          </a:solidFill>
                          <a:latin typeface="Calibri"/>
                        </a:rPr>
                        <a:t>+12.7%</a:t>
                      </a:r>
                    </a:p>
                  </a:txBody>
                  <a:tcPr anchor="ctr" marL="109728" marR="91440" marT="18288" marB="18288">
                    <a:solidFill>
                      <a:srgbClr val="F6F4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1E1B2E"/>
                          </a:solidFill>
                          <a:latin typeface="Calibri"/>
                        </a:rPr>
                        <a:t>Bootstrap p-value (spread)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5B21B6"/>
                          </a:solidFill>
                          <a:latin typeface="Calibri"/>
                        </a:rPr>
                        <a:t>0.057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1E1B2E"/>
                          </a:solidFill>
                          <a:latin typeface="Calibri"/>
                        </a:rPr>
                        <a:t>Combos surviving correction</a:t>
                      </a:r>
                    </a:p>
                  </a:txBody>
                  <a:tcPr anchor="ctr" marL="109728" marR="91440" marT="18288" marB="18288"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5B21B6"/>
                          </a:solidFill>
                          <a:latin typeface="Calibri"/>
                        </a:rPr>
                        <a:t>0 of 56</a:t>
                      </a:r>
                    </a:p>
                  </a:txBody>
                  <a:tcPr anchor="ctr" marL="109728" marR="91440" marT="18288" marB="18288">
                    <a:solidFill>
                      <a:srgbClr val="F6F4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1E1B2E"/>
                          </a:solidFill>
                          <a:latin typeface="Calibri"/>
                        </a:rPr>
                        <a:t>Deflated Sharpe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5B21B6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0" y="553212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5623560"/>
            <a:ext cx="484632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5B21B6"/>
                </a:solidFill>
                <a:latin typeface="Calibri"/>
              </a:rPr>
              <a:t>Costs ~6.5%/yr: 107.8% gross  -&gt;  +94.8% net ann. (+82.7% at 2x).</a:t>
            </a:r>
          </a:p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555566"/>
                </a:solidFill>
                <a:latin typeface="Calibri"/>
              </a:rPr>
              <a:t>Reproducible: code + notebooks on GitHub; run end-to-end to regenerate every figure and number.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